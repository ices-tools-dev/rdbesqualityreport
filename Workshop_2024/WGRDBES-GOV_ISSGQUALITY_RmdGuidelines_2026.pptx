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4"/>
  </p:sldMasterIdLst>
  <p:handoutMasterIdLst>
    <p:handoutMasterId r:id="rId13"/>
  </p:handoutMasterIdLst>
  <p:sldIdLst>
    <p:sldId id="257" r:id="rId5"/>
    <p:sldId id="265" r:id="rId6"/>
    <p:sldId id="291" r:id="rId7"/>
    <p:sldId id="292" r:id="rId8"/>
    <p:sldId id="290" r:id="rId9"/>
    <p:sldId id="272" r:id="rId10"/>
    <p:sldId id="294" r:id="rId11"/>
    <p:sldId id="295" r:id="rId12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or" initials="P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8" name="Author" initials="A" lastIdx="0" clrIdx="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2784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handoutMaster" Target="handoutMasters/handoutMaster1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commentAuthors" Target="comment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66E911-F793-4838-A7E0-22F5DC2E219F}" type="datetimeFigureOut">
              <a:rPr lang="da-DK" smtClean="0"/>
              <a:t>12-03-2026</a:t>
            </a:fld>
            <a:endParaRPr lang="da-DK"/>
          </a:p>
        </p:txBody>
      </p:sp>
      <p:sp>
        <p:nvSpPr>
          <p:cNvPr id="4" name="Pladsholder til sidefod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5" name="Pladsholder til slide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99DA88-E9CB-4BD6-A3AA-E9F01D61D701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386495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ran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">
            <a:extLst>
              <a:ext uri="{FF2B5EF4-FFF2-40B4-BE49-F238E27FC236}">
                <a16:creationId xmlns:a16="http://schemas.microsoft.com/office/drawing/2014/main" id="{3209F14E-8D1D-40C6-A539-73D6BEFEED7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4" y="769938"/>
            <a:ext cx="9220202" cy="2323445"/>
          </a:xfrm>
        </p:spPr>
        <p:txBody>
          <a:bodyPr anchor="b">
            <a:no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8" name="Pladsholder til tekst 18">
            <a:extLst>
              <a:ext uri="{FF2B5EF4-FFF2-40B4-BE49-F238E27FC236}">
                <a16:creationId xmlns:a16="http://schemas.microsoft.com/office/drawing/2014/main" id="{4AAD550C-3146-4C57-AB2D-C76A65C79F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6276" y="3093383"/>
            <a:ext cx="9182100" cy="1349223"/>
          </a:xfrm>
        </p:spPr>
        <p:txBody>
          <a:bodyPr/>
          <a:lstStyle>
            <a:lvl1pPr marL="0" indent="0">
              <a:buNone/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Click to add </a:t>
            </a:r>
            <a:r>
              <a:rPr lang="en-GB" dirty="0" err="1"/>
              <a:t>subheader</a:t>
            </a:r>
            <a:endParaRPr lang="en-GB" dirty="0"/>
          </a:p>
        </p:txBody>
      </p:sp>
      <p:pic>
        <p:nvPicPr>
          <p:cNvPr id="7" name="Billede 6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" y="5345359"/>
            <a:ext cx="1724025" cy="898278"/>
          </a:xfrm>
          <a:prstGeom prst="rect">
            <a:avLst/>
          </a:prstGeom>
        </p:spPr>
      </p:pic>
      <p:pic>
        <p:nvPicPr>
          <p:cNvPr id="9" name="Billede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383" y="6195173"/>
            <a:ext cx="2560542" cy="384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3101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u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6C7311DF-2A29-4CE6-AEB9-357814EE58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4" y="769938"/>
            <a:ext cx="9220202" cy="2323445"/>
          </a:xfrm>
        </p:spPr>
        <p:txBody>
          <a:bodyPr anchor="b">
            <a:noAutofit/>
          </a:bodyPr>
          <a:lstStyle>
            <a:lvl1pPr>
              <a:defRPr sz="5400" b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add title</a:t>
            </a:r>
            <a:endParaRPr lang="en-GB" dirty="0"/>
          </a:p>
        </p:txBody>
      </p:sp>
      <p:sp>
        <p:nvSpPr>
          <p:cNvPr id="10" name="Pladsholder til tekst 18">
            <a:extLst>
              <a:ext uri="{FF2B5EF4-FFF2-40B4-BE49-F238E27FC236}">
                <a16:creationId xmlns:a16="http://schemas.microsoft.com/office/drawing/2014/main" id="{4A07E728-4615-42A6-B1E8-908674A12F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6276" y="3093383"/>
            <a:ext cx="9182100" cy="1349223"/>
          </a:xfrm>
        </p:spPr>
        <p:txBody>
          <a:bodyPr/>
          <a:lstStyle>
            <a:lvl1pPr marL="0" indent="0">
              <a:buNone/>
              <a:defRPr>
                <a:solidFill>
                  <a:schemeClr val="bg1">
                    <a:lumMod val="85000"/>
                  </a:schemeClr>
                </a:solidFill>
              </a:defRPr>
            </a:lvl1pPr>
          </a:lstStyle>
          <a:p>
            <a:pPr lvl="0"/>
            <a:r>
              <a:rPr lang="en-GB" dirty="0"/>
              <a:t>Click to add </a:t>
            </a:r>
            <a:r>
              <a:rPr lang="en-GB" dirty="0" err="1"/>
              <a:t>subheader</a:t>
            </a:r>
            <a:endParaRPr lang="en-GB" dirty="0"/>
          </a:p>
        </p:txBody>
      </p:sp>
      <p:pic>
        <p:nvPicPr>
          <p:cNvPr id="7" name="Billede 6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6275" y="5345359"/>
            <a:ext cx="1724025" cy="898278"/>
          </a:xfrm>
          <a:prstGeom prst="rect">
            <a:avLst/>
          </a:prstGeom>
        </p:spPr>
      </p:pic>
      <p:pic>
        <p:nvPicPr>
          <p:cNvPr id="9" name="Billede 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383" y="6195173"/>
            <a:ext cx="2560542" cy="384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28047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/>
          <p:cNvSpPr>
            <a:spLocks noGrp="1"/>
          </p:cNvSpPr>
          <p:nvPr>
            <p:ph type="title"/>
          </p:nvPr>
        </p:nvSpPr>
        <p:spPr>
          <a:xfrm>
            <a:off x="647700" y="427037"/>
            <a:ext cx="9343323" cy="1063625"/>
          </a:xfrm>
        </p:spPr>
        <p:txBody>
          <a:bodyPr>
            <a:normAutofit/>
          </a:bodyPr>
          <a:lstStyle>
            <a:lvl1pPr>
              <a:defRPr sz="4000" b="1">
                <a:solidFill>
                  <a:srgbClr val="00265A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pic>
        <p:nvPicPr>
          <p:cNvPr id="6" name="Billede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7733" y="6418914"/>
            <a:ext cx="2560542" cy="38408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69C79-234C-42BF-93BB-D4FFA57123F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47700" y="1825200"/>
            <a:ext cx="10763249" cy="440034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70801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objects -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/>
          <p:cNvSpPr>
            <a:spLocks noGrp="1"/>
          </p:cNvSpPr>
          <p:nvPr>
            <p:ph type="title"/>
          </p:nvPr>
        </p:nvSpPr>
        <p:spPr>
          <a:xfrm>
            <a:off x="647700" y="427037"/>
            <a:ext cx="9343323" cy="1063625"/>
          </a:xfrm>
        </p:spPr>
        <p:txBody>
          <a:bodyPr>
            <a:normAutofit/>
          </a:bodyPr>
          <a:lstStyle>
            <a:lvl1pPr>
              <a:defRPr sz="4000" b="1">
                <a:solidFill>
                  <a:srgbClr val="00265A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2021D9-F37F-4846-AD9E-FB2231C6F2F9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47700" y="1825625"/>
            <a:ext cx="3792220" cy="42262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841EB9-3042-4108-98CF-EA57B3983B8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810250" y="1825624"/>
            <a:ext cx="5600700" cy="373913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Rektangel 8"/>
          <p:cNvSpPr/>
          <p:nvPr userDrawn="1"/>
        </p:nvSpPr>
        <p:spPr>
          <a:xfrm>
            <a:off x="-1" y="6296025"/>
            <a:ext cx="12192001" cy="561975"/>
          </a:xfrm>
          <a:prstGeom prst="rect">
            <a:avLst/>
          </a:prstGeom>
          <a:solidFill>
            <a:srgbClr val="00265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Billede 1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7733" y="6418914"/>
            <a:ext cx="2560542" cy="384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50387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objects -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/>
          <p:cNvSpPr>
            <a:spLocks noGrp="1"/>
          </p:cNvSpPr>
          <p:nvPr>
            <p:ph type="title"/>
          </p:nvPr>
        </p:nvSpPr>
        <p:spPr>
          <a:xfrm>
            <a:off x="647700" y="427037"/>
            <a:ext cx="9343323" cy="1063625"/>
          </a:xfrm>
        </p:spPr>
        <p:txBody>
          <a:bodyPr>
            <a:normAutofit/>
          </a:bodyPr>
          <a:lstStyle>
            <a:lvl1pPr>
              <a:defRPr sz="4000" b="1">
                <a:solidFill>
                  <a:srgbClr val="00265A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4463921-33CB-4908-B5A9-1060D340A50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47700" y="1825625"/>
            <a:ext cx="3792220" cy="42262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116F9FD3-3D16-4DB5-AD5C-E8098D87A87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810250" y="1825624"/>
            <a:ext cx="5600700" cy="373913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Rektangel 11"/>
          <p:cNvSpPr/>
          <p:nvPr userDrawn="1"/>
        </p:nvSpPr>
        <p:spPr>
          <a:xfrm>
            <a:off x="-1" y="6296025"/>
            <a:ext cx="12192001" cy="561975"/>
          </a:xfrm>
          <a:prstGeom prst="rect">
            <a:avLst/>
          </a:prstGeom>
          <a:solidFill>
            <a:srgbClr val="EC523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9" name="Billed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7733" y="6418914"/>
            <a:ext cx="2560542" cy="384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370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objects - Turquoi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/>
          <p:cNvSpPr>
            <a:spLocks noGrp="1"/>
          </p:cNvSpPr>
          <p:nvPr>
            <p:ph type="title"/>
          </p:nvPr>
        </p:nvSpPr>
        <p:spPr>
          <a:xfrm>
            <a:off x="647700" y="427037"/>
            <a:ext cx="9343323" cy="1063625"/>
          </a:xfrm>
        </p:spPr>
        <p:txBody>
          <a:bodyPr>
            <a:normAutofit/>
          </a:bodyPr>
          <a:lstStyle>
            <a:lvl1pPr>
              <a:defRPr sz="4000" b="1">
                <a:solidFill>
                  <a:srgbClr val="00265A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721D465C-25A6-4B18-9B14-0DBDE3EF467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47700" y="1825625"/>
            <a:ext cx="3792220" cy="42262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Content Placeholder 5">
            <a:extLst>
              <a:ext uri="{FF2B5EF4-FFF2-40B4-BE49-F238E27FC236}">
                <a16:creationId xmlns:a16="http://schemas.microsoft.com/office/drawing/2014/main" id="{F222F2F0-F6B4-4E5B-8718-B38DF1BB96E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810250" y="1825624"/>
            <a:ext cx="5600700" cy="373913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Rektangel 11"/>
          <p:cNvSpPr/>
          <p:nvPr userDrawn="1"/>
        </p:nvSpPr>
        <p:spPr>
          <a:xfrm>
            <a:off x="-1" y="6296025"/>
            <a:ext cx="12192001" cy="561975"/>
          </a:xfrm>
          <a:prstGeom prst="rect">
            <a:avLst/>
          </a:prstGeom>
          <a:solidFill>
            <a:srgbClr val="00A6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9" name="Billed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57733" y="6418914"/>
            <a:ext cx="2560542" cy="384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2657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1"/>
          <p:cNvSpPr>
            <a:spLocks noGrp="1"/>
          </p:cNvSpPr>
          <p:nvPr>
            <p:ph type="title"/>
          </p:nvPr>
        </p:nvSpPr>
        <p:spPr>
          <a:xfrm>
            <a:off x="647700" y="427037"/>
            <a:ext cx="9343323" cy="1063625"/>
          </a:xfrm>
        </p:spPr>
        <p:txBody>
          <a:bodyPr>
            <a:normAutofit/>
          </a:bodyPr>
          <a:lstStyle>
            <a:lvl1pPr>
              <a:defRPr sz="4000" b="1">
                <a:solidFill>
                  <a:srgbClr val="00265A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7811009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6141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0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9135979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 err="1"/>
              <a:t>Klik</a:t>
            </a:r>
            <a:r>
              <a:rPr lang="en-GB" dirty="0"/>
              <a:t> for at </a:t>
            </a:r>
            <a:r>
              <a:rPr lang="en-GB" dirty="0" err="1"/>
              <a:t>redigere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master</a:t>
            </a:r>
          </a:p>
        </p:txBody>
      </p:sp>
      <p:sp>
        <p:nvSpPr>
          <p:cNvPr id="3" name="Pladsholder til tekst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 err="1"/>
              <a:t>Klik</a:t>
            </a:r>
            <a:r>
              <a:rPr lang="en-GB" dirty="0"/>
              <a:t> for at </a:t>
            </a:r>
            <a:r>
              <a:rPr lang="en-GB" dirty="0" err="1"/>
              <a:t>redigere</a:t>
            </a:r>
            <a:r>
              <a:rPr lang="en-GB" dirty="0"/>
              <a:t> </a:t>
            </a:r>
            <a:r>
              <a:rPr lang="en-GB" dirty="0" err="1"/>
              <a:t>i</a:t>
            </a:r>
            <a:r>
              <a:rPr lang="en-GB" dirty="0"/>
              <a:t> master</a:t>
            </a:r>
          </a:p>
          <a:p>
            <a:pPr lvl="1"/>
            <a:r>
              <a:rPr lang="en-GB" dirty="0" err="1"/>
              <a:t>Andet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2"/>
            <a:r>
              <a:rPr lang="en-GB" dirty="0" err="1"/>
              <a:t>Tredje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3"/>
            <a:r>
              <a:rPr lang="en-GB" dirty="0" err="1"/>
              <a:t>Fjerde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4"/>
            <a:r>
              <a:rPr lang="en-GB" dirty="0" err="1"/>
              <a:t>Femte</a:t>
            </a:r>
            <a:r>
              <a:rPr lang="en-GB" dirty="0"/>
              <a:t> </a:t>
            </a:r>
            <a:r>
              <a:rPr lang="en-GB" dirty="0" err="1"/>
              <a:t>niveau</a:t>
            </a:r>
            <a:endParaRPr lang="en-GB" dirty="0"/>
          </a:p>
          <a:p>
            <a:pPr lvl="5"/>
            <a:r>
              <a:rPr lang="en-GB" dirty="0"/>
              <a:t>6</a:t>
            </a:r>
          </a:p>
          <a:p>
            <a:pPr lvl="6"/>
            <a:r>
              <a:rPr lang="en-GB" dirty="0"/>
              <a:t>7</a:t>
            </a:r>
          </a:p>
          <a:p>
            <a:pPr lvl="7"/>
            <a:r>
              <a:rPr lang="en-GB" dirty="0"/>
              <a:t>8</a:t>
            </a:r>
          </a:p>
          <a:p>
            <a:pPr lvl="8"/>
            <a:r>
              <a:rPr lang="en-GB" dirty="0"/>
              <a:t>9</a:t>
            </a:r>
          </a:p>
        </p:txBody>
      </p:sp>
      <p:sp>
        <p:nvSpPr>
          <p:cNvPr id="4" name="Pladsholder til dato 3"/>
          <p:cNvSpPr>
            <a:spLocks noGrp="1"/>
          </p:cNvSpPr>
          <p:nvPr>
            <p:ph type="dt" sz="half" idx="2"/>
          </p:nvPr>
        </p:nvSpPr>
        <p:spPr>
          <a:xfrm>
            <a:off x="0" y="6858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.</a:t>
            </a:r>
          </a:p>
        </p:txBody>
      </p:sp>
      <p:sp>
        <p:nvSpPr>
          <p:cNvPr id="5" name="Pladsholder til sidefod 4"/>
          <p:cNvSpPr>
            <a:spLocks noGrp="1"/>
          </p:cNvSpPr>
          <p:nvPr>
            <p:ph type="ftr" sz="quarter" idx="3"/>
          </p:nvPr>
        </p:nvSpPr>
        <p:spPr>
          <a:xfrm>
            <a:off x="0" y="6858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.</a:t>
            </a:r>
          </a:p>
        </p:txBody>
      </p:sp>
      <p:sp>
        <p:nvSpPr>
          <p:cNvPr id="6" name="Pladsholder til slidenummer 5"/>
          <p:cNvSpPr>
            <a:spLocks noGrp="1"/>
          </p:cNvSpPr>
          <p:nvPr>
            <p:ph type="sldNum" sz="quarter" idx="4"/>
          </p:nvPr>
        </p:nvSpPr>
        <p:spPr>
          <a:xfrm>
            <a:off x="0" y="6858000"/>
            <a:ext cx="0" cy="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">
                <a:noFill/>
              </a:defRPr>
            </a:lvl1pPr>
          </a:lstStyle>
          <a:p>
            <a:endParaRPr lang="en-GB" dirty="0"/>
          </a:p>
        </p:txBody>
      </p:sp>
      <p:pic>
        <p:nvPicPr>
          <p:cNvPr id="7" name="Billede 6">
            <a:extLst>
              <a:ext uri="{FF2B5EF4-FFF2-40B4-BE49-F238E27FC236}">
                <a16:creationId xmlns:a16="http://schemas.microsoft.com/office/drawing/2014/main" id="{5501499D-F55E-49F4-B2E9-CBEF800A0415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3174" y="627063"/>
            <a:ext cx="1247775" cy="561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94872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2" r:id="rId4"/>
    <p:sldLayoutId id="2147483661" r:id="rId5"/>
    <p:sldLayoutId id="2147483662" r:id="rId6"/>
    <p:sldLayoutId id="2147483654" r:id="rId7"/>
    <p:sldLayoutId id="2147483655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180000" indent="-180000" algn="l" defTabSz="914400" rtl="0" eaLnBrk="1" latinLnBrk="0" hangingPunct="1">
        <a:lnSpc>
          <a:spcPct val="90000"/>
        </a:lnSpc>
        <a:spcBef>
          <a:spcPts val="600"/>
        </a:spcBef>
        <a:buFont typeface="Arial" panose="020B0604020202020204" pitchFamily="34" charset="0"/>
        <a:buChar char="•"/>
        <a:defRPr sz="2000" kern="1200">
          <a:solidFill>
            <a:schemeClr val="accent1"/>
          </a:solidFill>
          <a:latin typeface="+mn-lt"/>
          <a:ea typeface="+mn-ea"/>
          <a:cs typeface="+mn-cs"/>
        </a:defRPr>
      </a:lvl1pPr>
      <a:lvl2pPr marL="360000" indent="-1800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800" kern="1200">
          <a:solidFill>
            <a:schemeClr val="accent1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600" kern="1200">
          <a:solidFill>
            <a:schemeClr val="accent1"/>
          </a:solidFill>
          <a:latin typeface="+mn-lt"/>
          <a:ea typeface="+mn-ea"/>
          <a:cs typeface="+mn-cs"/>
        </a:defRPr>
      </a:lvl3pPr>
      <a:lvl4pPr marL="720000" indent="-1800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4pPr>
      <a:lvl5pPr marL="900000" indent="-1800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6pPr>
      <a:lvl7pPr marL="900000" indent="-1800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7pPr>
      <a:lvl8pPr marL="900000" indent="-1800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8pPr>
      <a:lvl9pPr marL="900000" indent="-180000" algn="l" defTabSz="914400" rtl="0" eaLnBrk="1" latinLnBrk="0" hangingPunct="1">
        <a:lnSpc>
          <a:spcPct val="1000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400" kern="1200">
          <a:solidFill>
            <a:schemeClr val="accent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.ices.dk/rec12/login.aspx" TargetMode="External"/><Relationship Id="rId2" Type="http://schemas.openxmlformats.org/officeDocument/2006/relationships/hyperlink" Target="https://rdbes.ices.dk/#/" TargetMode="Externa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github.com/ices-tools-dev/RDBESQualityReport" TargetMode="Externa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C1A1C458-7B80-44E1-A4F2-09E73FF56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WGRDBES-GOV ISSG Quality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55F2DF7-8E3D-4DFE-B339-34EE2A29731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GB" dirty="0" err="1"/>
              <a:t>Rmarkdown</a:t>
            </a:r>
            <a:r>
              <a:rPr lang="en-GB" dirty="0"/>
              <a:t> guidelines</a:t>
            </a:r>
          </a:p>
          <a:p>
            <a:r>
              <a:rPr lang="en-GB"/>
              <a:t>12/03/2026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597437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1"/>
          </p:nvPr>
        </p:nvSpPr>
        <p:spPr/>
        <p:txBody>
          <a:bodyPr anchor="ctr"/>
          <a:lstStyle/>
          <a:p>
            <a:r>
              <a:rPr lang="en-US" b="1" dirty="0"/>
              <a:t>This </a:t>
            </a:r>
            <a:r>
              <a:rPr lang="en-US" b="1" dirty="0" err="1"/>
              <a:t>Rmarkdown</a:t>
            </a:r>
            <a:r>
              <a:rPr lang="en-US" b="1" dirty="0"/>
              <a:t> script was developed under the WGRDBES-GOV ISSG Quality </a:t>
            </a:r>
          </a:p>
          <a:p>
            <a:pPr lvl="1"/>
            <a:r>
              <a:rPr lang="en-US" b="1" dirty="0"/>
              <a:t>Tool to assist the data submitters in quality checking their national data and enhancing the data quality</a:t>
            </a:r>
          </a:p>
          <a:p>
            <a:r>
              <a:rPr lang="en-US" b="1" dirty="0"/>
              <a:t>It’s still being developed</a:t>
            </a:r>
          </a:p>
          <a:p>
            <a:pPr lvl="1"/>
            <a:r>
              <a:rPr lang="en-US" b="1" dirty="0"/>
              <a:t>Only CL &amp; CE tables are currently implemented, and the script requires testing from countries to ensure all details are captured adequately  </a:t>
            </a:r>
          </a:p>
          <a:p>
            <a:pPr lvl="1"/>
            <a:r>
              <a:rPr lang="en-US" b="1" dirty="0"/>
              <a:t>CS tables are a future development considering their complexity </a:t>
            </a:r>
          </a:p>
          <a:p>
            <a:r>
              <a:rPr lang="en-US" b="1" dirty="0"/>
              <a:t>Long term plan: Report automatically generated during the upload in the RDBES database</a:t>
            </a:r>
          </a:p>
          <a:p>
            <a:pPr lvl="1"/>
            <a:r>
              <a:rPr lang="en-US" b="1" dirty="0"/>
              <a:t>Subject to funding</a:t>
            </a:r>
          </a:p>
          <a:p>
            <a:pPr lvl="1"/>
            <a:r>
              <a:rPr lang="en-US" b="1" dirty="0"/>
              <a:t>Priority after the full transition from </a:t>
            </a:r>
            <a:r>
              <a:rPr lang="en-US" b="1" dirty="0" err="1"/>
              <a:t>InterCatch</a:t>
            </a:r>
            <a:r>
              <a:rPr lang="en-US" b="1" dirty="0"/>
              <a:t> to RDBES</a:t>
            </a:r>
          </a:p>
        </p:txBody>
      </p:sp>
    </p:spTree>
    <p:extLst>
      <p:ext uri="{BB962C8B-B14F-4D97-AF65-F5344CB8AC3E}">
        <p14:creationId xmlns:p14="http://schemas.microsoft.com/office/powerpoint/2010/main" val="15376959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1"/>
          </p:nvPr>
        </p:nvSpPr>
        <p:spPr>
          <a:xfrm>
            <a:off x="647700" y="1899821"/>
            <a:ext cx="10763249" cy="4582394"/>
          </a:xfrm>
        </p:spPr>
        <p:txBody>
          <a:bodyPr anchor="ctr">
            <a:normAutofit lnSpcReduction="10000"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Main data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The RDBES CL and CE tables downloaded from the RDBES database</a:t>
            </a:r>
          </a:p>
          <a:p>
            <a:pPr marL="0" indent="0" algn="ctr">
              <a:buNone/>
            </a:pPr>
            <a:r>
              <a:rPr lang="en-US" b="1" dirty="0">
                <a:hlinkClick r:id="rId2"/>
              </a:rPr>
              <a:t>https://rdbes.ices.dk/#/</a:t>
            </a:r>
            <a:endParaRPr lang="en-US" b="1" dirty="0"/>
          </a:p>
          <a:p>
            <a:pPr marL="0" indent="0" algn="ctr">
              <a:buNone/>
            </a:pPr>
            <a:r>
              <a:rPr lang="en-US" b="1" dirty="0"/>
              <a:t>The script is working </a:t>
            </a:r>
            <a:r>
              <a:rPr lang="en-US" b="1" u="sng" dirty="0"/>
              <a:t>with multiple years of data for both tables </a:t>
            </a:r>
          </a:p>
          <a:p>
            <a:pPr marL="457200" indent="-457200" algn="ctr">
              <a:buFont typeface="+mj-lt"/>
              <a:buAutoNum type="arabicPeriod"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2</a:t>
            </a:r>
            <a:r>
              <a:rPr lang="en-US" sz="2400" b="1" dirty="0"/>
              <a:t>.    Auxiliary data</a:t>
            </a:r>
          </a:p>
          <a:p>
            <a:pPr marL="0" indent="0">
              <a:buNone/>
            </a:pPr>
            <a:r>
              <a:rPr lang="en-US" b="1" dirty="0"/>
              <a:t>	</a:t>
            </a:r>
          </a:p>
          <a:p>
            <a:r>
              <a:rPr lang="en-US" b="1" dirty="0"/>
              <a:t>Eurostat: If enabled, it pulls the Eurostat data directly from the Eurostat database. </a:t>
            </a:r>
          </a:p>
          <a:p>
            <a:r>
              <a:rPr lang="en-US" b="1" dirty="0"/>
              <a:t>ICES preliminary catch statistics: </a:t>
            </a:r>
            <a:r>
              <a:rPr lang="en-US" b="1" dirty="0">
                <a:hlinkClick r:id="rId3"/>
              </a:rPr>
              <a:t>https://data.ices.dk/rec12/login.aspx</a:t>
            </a:r>
            <a:endParaRPr lang="en-US" b="1" dirty="0"/>
          </a:p>
          <a:p>
            <a:r>
              <a:rPr lang="en-US" b="1" u="sng" dirty="0"/>
              <a:t>Fleet register: Not yet implemented</a:t>
            </a:r>
          </a:p>
          <a:p>
            <a:pPr marL="0" indent="0">
              <a:buNone/>
            </a:pPr>
            <a:endParaRPr lang="en-US" b="1" dirty="0"/>
          </a:p>
          <a:p>
            <a:pPr marL="0" indent="0" algn="ctr">
              <a:buNone/>
            </a:pPr>
            <a:r>
              <a:rPr lang="en-US" b="1" u="sng" dirty="0"/>
              <a:t>Please note: You do not have to modify the downloaded files! </a:t>
            </a:r>
          </a:p>
        </p:txBody>
      </p:sp>
    </p:spTree>
    <p:extLst>
      <p:ext uri="{BB962C8B-B14F-4D97-AF65-F5344CB8AC3E}">
        <p14:creationId xmlns:p14="http://schemas.microsoft.com/office/powerpoint/2010/main" val="31679007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the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1"/>
          </p:nvPr>
        </p:nvSpPr>
        <p:spPr>
          <a:xfrm>
            <a:off x="266331" y="1686070"/>
            <a:ext cx="4635742" cy="3835841"/>
          </a:xfrm>
        </p:spPr>
        <p:txBody>
          <a:bodyPr anchor="ctr">
            <a:normAutofit/>
          </a:bodyPr>
          <a:lstStyle/>
          <a:p>
            <a:r>
              <a:rPr lang="en-US" b="1" dirty="0"/>
              <a:t>Go to the GitHub page 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ices-tools-dev/</a:t>
            </a:r>
            <a:r>
              <a:rPr lang="en-US" dirty="0" err="1">
                <a:hlinkClick r:id="rId2"/>
              </a:rPr>
              <a:t>RDBESQualityReport</a:t>
            </a:r>
            <a:r>
              <a:rPr lang="en-US" dirty="0">
                <a:hlinkClick r:id="rId2"/>
              </a:rPr>
              <a:t>: Quality report script for RDBES</a:t>
            </a: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Make sure that you’re downloading the </a:t>
            </a:r>
            <a:r>
              <a:rPr lang="en-US" b="1" u="sng" dirty="0"/>
              <a:t>“Main” </a:t>
            </a:r>
            <a:r>
              <a:rPr lang="en-US" b="1" dirty="0"/>
              <a:t>branch.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The other branch called </a:t>
            </a:r>
            <a:r>
              <a:rPr lang="en-US" b="1" u="sng" dirty="0"/>
              <a:t>“Dev” </a:t>
            </a:r>
            <a:r>
              <a:rPr lang="en-US" b="1" dirty="0"/>
              <a:t>is for the developers. You can use It but at your own risk, as It could potentially be unstable during the development phase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01A534F8-0E7D-8D8A-3772-A8E81AC0CF59}"/>
              </a:ext>
            </a:extLst>
          </p:cNvPr>
          <p:cNvGrpSpPr/>
          <p:nvPr/>
        </p:nvGrpSpPr>
        <p:grpSpPr>
          <a:xfrm>
            <a:off x="4902073" y="1825206"/>
            <a:ext cx="6872677" cy="3485859"/>
            <a:chOff x="647700" y="1059508"/>
            <a:chExt cx="6872677" cy="3485859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61DB9B2-2CF2-BEBD-1664-79322F0B24F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6228" r="23365" b="1437"/>
            <a:stretch/>
          </p:blipFill>
          <p:spPr>
            <a:xfrm>
              <a:off x="647700" y="1059508"/>
              <a:ext cx="6872677" cy="348585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FACCED2B-4E26-9B6A-8A74-6E96365A3B9D}"/>
                </a:ext>
              </a:extLst>
            </p:cNvPr>
            <p:cNvSpPr/>
            <p:nvPr/>
          </p:nvSpPr>
          <p:spPr>
            <a:xfrm>
              <a:off x="1278384" y="1825200"/>
              <a:ext cx="1154098" cy="562893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dirty="0" err="1"/>
            </a:p>
          </p:txBody>
        </p:sp>
      </p:grpSp>
    </p:spTree>
    <p:extLst>
      <p:ext uri="{BB962C8B-B14F-4D97-AF65-F5344CB8AC3E}">
        <p14:creationId xmlns:p14="http://schemas.microsoft.com/office/powerpoint/2010/main" val="2254317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run the script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1"/>
          </p:nvPr>
        </p:nvSpPr>
        <p:spPr>
          <a:xfrm>
            <a:off x="237755" y="1374775"/>
            <a:ext cx="10896969" cy="1905000"/>
          </a:xfrm>
        </p:spPr>
        <p:txBody>
          <a:bodyPr anchor="ctr">
            <a:normAutofit/>
          </a:bodyPr>
          <a:lstStyle/>
          <a:p>
            <a:r>
              <a:rPr lang="en-US" b="1" dirty="0"/>
              <a:t>Are you familiar with Git? </a:t>
            </a:r>
          </a:p>
          <a:p>
            <a:pPr marL="0" indent="0">
              <a:buNone/>
            </a:pPr>
            <a:r>
              <a:rPr lang="en-US" b="1" dirty="0"/>
              <a:t>Then clone it directly from the repository. </a:t>
            </a:r>
          </a:p>
          <a:p>
            <a:pPr marL="0" indent="0">
              <a:buNone/>
            </a:pPr>
            <a:endParaRPr lang="en-US" b="1" dirty="0"/>
          </a:p>
          <a:p>
            <a:r>
              <a:rPr lang="en-US" b="1" dirty="0"/>
              <a:t>Are you </a:t>
            </a:r>
            <a:r>
              <a:rPr lang="en-US" b="1" u="sng" dirty="0"/>
              <a:t>not</a:t>
            </a:r>
            <a:r>
              <a:rPr lang="en-US" b="1" dirty="0"/>
              <a:t> familiar with Git? Click on Code and Download ZIP. Save the ZIP in a dedicated folder and extract it.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3DD8BC-EFDA-5E32-A649-4BCDA18075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75" y="3252939"/>
            <a:ext cx="8582025" cy="3435048"/>
          </a:xfrm>
          <a:prstGeom prst="rect">
            <a:avLst/>
          </a:prstGeom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43C4D8D6-1324-5366-51F3-9398570D1A90}"/>
              </a:ext>
            </a:extLst>
          </p:cNvPr>
          <p:cNvCxnSpPr>
            <a:cxnSpLocks/>
          </p:cNvCxnSpPr>
          <p:nvPr/>
        </p:nvCxnSpPr>
        <p:spPr>
          <a:xfrm flipH="1">
            <a:off x="6773663" y="3997911"/>
            <a:ext cx="169563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0BA66F4-31A2-8195-D646-9CB36B1B3203}"/>
              </a:ext>
            </a:extLst>
          </p:cNvPr>
          <p:cNvCxnSpPr>
            <a:cxnSpLocks/>
          </p:cNvCxnSpPr>
          <p:nvPr/>
        </p:nvCxnSpPr>
        <p:spPr>
          <a:xfrm flipH="1">
            <a:off x="5078028" y="6218808"/>
            <a:ext cx="1695635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05828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512762"/>
            <a:ext cx="9343323" cy="1063625"/>
          </a:xfrm>
        </p:spPr>
        <p:txBody>
          <a:bodyPr/>
          <a:lstStyle/>
          <a:p>
            <a:r>
              <a:rPr lang="en-US" dirty="0"/>
              <a:t>Troubleshooting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1"/>
          </p:nvPr>
        </p:nvSpPr>
        <p:spPr>
          <a:xfrm>
            <a:off x="647700" y="1825200"/>
            <a:ext cx="10763249" cy="42116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 This session: </a:t>
            </a:r>
          </a:p>
          <a:p>
            <a:pPr marL="0" indent="0">
              <a:buNone/>
            </a:pPr>
            <a:endParaRPr lang="en-US" dirty="0"/>
          </a:p>
          <a:p>
            <a:pPr marL="0" indent="0" algn="ctr">
              <a:buNone/>
            </a:pPr>
            <a:endParaRPr lang="en-US" b="1" dirty="0"/>
          </a:p>
          <a:p>
            <a:pPr marL="0" indent="0" algn="ctr">
              <a:buNone/>
            </a:pPr>
            <a:endParaRPr lang="en-US" b="1" dirty="0"/>
          </a:p>
          <a:p>
            <a:pPr marL="0" indent="0" algn="ctr">
              <a:buNone/>
            </a:pPr>
            <a:endParaRPr lang="en-US" b="1" dirty="0"/>
          </a:p>
          <a:p>
            <a:pPr marL="0" indent="0" algn="ctr">
              <a:buNone/>
            </a:pPr>
            <a:r>
              <a:rPr lang="en-US" b="1" dirty="0"/>
              <a:t>Does it run as intended? </a:t>
            </a:r>
          </a:p>
        </p:txBody>
      </p:sp>
    </p:spTree>
    <p:extLst>
      <p:ext uri="{BB962C8B-B14F-4D97-AF65-F5344CB8AC3E}">
        <p14:creationId xmlns:p14="http://schemas.microsoft.com/office/powerpoint/2010/main" val="20033037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512762"/>
            <a:ext cx="9343323" cy="1063625"/>
          </a:xfrm>
        </p:spPr>
        <p:txBody>
          <a:bodyPr/>
          <a:lstStyle/>
          <a:p>
            <a:r>
              <a:rPr lang="en-US" dirty="0"/>
              <a:t>Feedback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1"/>
          </p:nvPr>
        </p:nvSpPr>
        <p:spPr>
          <a:xfrm>
            <a:off x="647700" y="1825200"/>
            <a:ext cx="10763249" cy="381212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 Afternoon session: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Issues with running the script (technical) 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Specific issues related to the output </a:t>
            </a:r>
          </a:p>
          <a:p>
            <a:pPr lvl="1"/>
            <a:r>
              <a:rPr lang="en-US" dirty="0"/>
              <a:t>E.g., you don’t see important information for your country’s data </a:t>
            </a:r>
          </a:p>
          <a:p>
            <a:pPr lvl="1"/>
            <a:r>
              <a:rPr lang="en-US" dirty="0"/>
              <a:t>Plot dimensions all wrong</a:t>
            </a:r>
          </a:p>
          <a:p>
            <a:pPr lvl="1"/>
            <a:endParaRPr lang="en-US" dirty="0"/>
          </a:p>
          <a:p>
            <a:r>
              <a:rPr lang="en-US" dirty="0"/>
              <a:t>Suggestions for additional features </a:t>
            </a:r>
          </a:p>
          <a:p>
            <a:endParaRPr lang="en-US" dirty="0"/>
          </a:p>
          <a:p>
            <a:r>
              <a:rPr lang="en-US" dirty="0"/>
              <a:t>Was </a:t>
            </a:r>
            <a:r>
              <a:rPr lang="en-US"/>
              <a:t>it helpful? </a:t>
            </a:r>
            <a:endParaRPr lang="en-US" dirty="0"/>
          </a:p>
          <a:p>
            <a:endParaRPr lang="en-US" dirty="0"/>
          </a:p>
          <a:p>
            <a:r>
              <a:rPr lang="en-US" dirty="0"/>
              <a:t>Other? </a:t>
            </a:r>
          </a:p>
          <a:p>
            <a:pPr marL="180000" lvl="1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6682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512762"/>
            <a:ext cx="9343323" cy="1063625"/>
          </a:xfrm>
        </p:spPr>
        <p:txBody>
          <a:bodyPr/>
          <a:lstStyle/>
          <a:p>
            <a:r>
              <a:rPr lang="en-US" dirty="0"/>
              <a:t>Future developments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1"/>
          </p:nvPr>
        </p:nvSpPr>
        <p:spPr>
          <a:xfrm>
            <a:off x="647700" y="1825200"/>
            <a:ext cx="10763249" cy="3812120"/>
          </a:xfrm>
        </p:spPr>
        <p:txBody>
          <a:bodyPr>
            <a:normAutofit/>
          </a:bodyPr>
          <a:lstStyle/>
          <a:p>
            <a:pPr lvl="1"/>
            <a:r>
              <a:rPr lang="en-GB" b="1" dirty="0"/>
              <a:t>Contribute if you can </a:t>
            </a:r>
          </a:p>
          <a:p>
            <a:pPr lvl="1"/>
            <a:r>
              <a:rPr lang="en-GB" b="1" dirty="0"/>
              <a:t>Keep using it</a:t>
            </a:r>
          </a:p>
          <a:p>
            <a:pPr lvl="1"/>
            <a:r>
              <a:rPr lang="en-GB" b="1" dirty="0"/>
              <a:t>Future feedback </a:t>
            </a:r>
          </a:p>
          <a:p>
            <a:pPr lvl="1"/>
            <a:endParaRPr lang="en-GB" dirty="0"/>
          </a:p>
          <a:p>
            <a:pPr marL="180000" lvl="1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0B0EDC-1ADF-722E-14D3-0516744156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898" y="2965969"/>
            <a:ext cx="11408204" cy="354136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5DDF7C4-6E66-E5C3-7A46-202A6E095DDE}"/>
              </a:ext>
            </a:extLst>
          </p:cNvPr>
          <p:cNvCxnSpPr>
            <a:cxnSpLocks/>
          </p:cNvCxnSpPr>
          <p:nvPr/>
        </p:nvCxnSpPr>
        <p:spPr>
          <a:xfrm flipV="1">
            <a:off x="10990556" y="4237607"/>
            <a:ext cx="0" cy="1399713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524FCE74-29A2-9A37-9677-6DB3D3FE42DA}"/>
              </a:ext>
            </a:extLst>
          </p:cNvPr>
          <p:cNvSpPr/>
          <p:nvPr/>
        </p:nvSpPr>
        <p:spPr>
          <a:xfrm>
            <a:off x="1012055" y="3308092"/>
            <a:ext cx="1012054" cy="52706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 err="1"/>
          </a:p>
        </p:txBody>
      </p:sp>
    </p:spTree>
    <p:extLst>
      <p:ext uri="{BB962C8B-B14F-4D97-AF65-F5344CB8AC3E}">
        <p14:creationId xmlns:p14="http://schemas.microsoft.com/office/powerpoint/2010/main" val="1098866788"/>
      </p:ext>
    </p:extLst>
  </p:cSld>
  <p:clrMapOvr>
    <a:masterClrMapping/>
  </p:clrMapOvr>
</p:sld>
</file>

<file path=ppt/theme/theme1.xml><?xml version="1.0" encoding="utf-8"?>
<a:theme xmlns:a="http://schemas.openxmlformats.org/drawingml/2006/main" name="ICES">
  <a:themeElements>
    <a:clrScheme name="ICES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0265A"/>
      </a:accent1>
      <a:accent2>
        <a:srgbClr val="EE522C"/>
      </a:accent2>
      <a:accent3>
        <a:srgbClr val="00A695"/>
      </a:accent3>
      <a:accent4>
        <a:srgbClr val="73A9B9"/>
      </a:accent4>
      <a:accent5>
        <a:srgbClr val="B2CCC4"/>
      </a:accent5>
      <a:accent6>
        <a:srgbClr val="3FB8F3"/>
      </a:accent6>
      <a:hlink>
        <a:srgbClr val="0563C1"/>
      </a:hlink>
      <a:folHlink>
        <a:srgbClr val="954F72"/>
      </a:folHlink>
    </a:clrScheme>
    <a:fontScheme name="ICE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solidFill>
            <a:schemeClr val="accent1"/>
          </a:solidFill>
        </a:ln>
      </a:spPr>
      <a:bodyPr rtlCol="0" anchor="ctr"/>
      <a:lstStyle>
        <a:defPPr algn="ctr">
          <a:defRPr sz="2000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/>
      <a:bodyPr vert="horz" wrap="square" lIns="0" tIns="0" rIns="0" bIns="0" rtlCol="0" anchor="t">
        <a:noAutofit/>
      </a:bodyPr>
      <a:lstStyle>
        <a:defPPr algn="l">
          <a:defRPr sz="2000" dirty="0" err="1" smtClean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ICES PowerPoint template 2019 [Read-Only]" id="{70FE6429-2D32-40FE-86C5-7BC4DC107F43}" vid="{ED9E908D-211E-40E0-ACC4-0E7CBCF3B4F5}"/>
    </a:ext>
  </a:extLst>
</a:theme>
</file>

<file path=ppt/theme/theme2.xml><?xml version="1.0" encoding="utf-8"?>
<a:theme xmlns:a="http://schemas.openxmlformats.org/drawingml/2006/main" name="Office-tema">
  <a:themeElements>
    <a:clrScheme name="Kont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ontor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d5313c0-c1e6-4122-afa9-da1ccdba405d"/>
    <TaxCatchAllLabel xmlns="4d5313c0-c1e6-4122-afa9-da1ccdba405d"/>
    <TaxKeywordTaxHTField xmlns="4d5313c0-c1e6-4122-afa9-da1ccdba405d">
      <Terms xmlns="http://schemas.microsoft.com/office/infopath/2007/PartnerControls"/>
    </TaxKeywordTaxHTField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25681E1A4C7504BA1C35FA828EC8EBE" ma:contentTypeVersion="0" ma:contentTypeDescription="Create a new document." ma:contentTypeScope="" ma:versionID="6bd96c005d3e1e0ba7a22be0542c18ac">
  <xsd:schema xmlns:xsd="http://www.w3.org/2001/XMLSchema" xmlns:xs="http://www.w3.org/2001/XMLSchema" xmlns:p="http://schemas.microsoft.com/office/2006/metadata/properties" xmlns:ns2="4d5313c0-c1e6-4122-afa9-da1ccdba405d" xmlns:ns3="362c980f-4e38-4cca-bd06-5104ee5993c5" targetNamespace="http://schemas.microsoft.com/office/2006/metadata/properties" ma:root="true" ma:fieldsID="b91c66d6a628c7b1a21e6c64315cfea9" ns2:_="" ns3:_="">
    <xsd:import namespace="4d5313c0-c1e6-4122-afa9-da1ccdba405d"/>
    <xsd:import namespace="362c980f-4e38-4cca-bd06-5104ee5993c5"/>
    <xsd:element name="properties">
      <xsd:complexType>
        <xsd:sequence>
          <xsd:element name="documentManagement">
            <xsd:complexType>
              <xsd:all>
                <xsd:element ref="ns2:TaxKeywordTaxHTField" minOccurs="0"/>
                <xsd:element ref="ns2:TaxCatchAll" minOccurs="0"/>
                <xsd:element ref="ns2:TaxCatchAllLabel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5313c0-c1e6-4122-afa9-da1ccdba405d" elementFormDefault="qualified">
    <xsd:import namespace="http://schemas.microsoft.com/office/2006/documentManagement/types"/>
    <xsd:import namespace="http://schemas.microsoft.com/office/infopath/2007/PartnerControls"/>
    <xsd:element name="TaxKeywordTaxHTField" ma:index="8" nillable="true" ma:taxonomy="true" ma:internalName="TaxKeywordTaxHTField" ma:taxonomyFieldName="TaxKeyword" ma:displayName="Enterprise Keywords" ma:readOnly="false" ma:fieldId="{23f27201-bee3-471e-b2e7-b64fd8b7ca38}" ma:taxonomyMulti="true" ma:sspId="d535ea34-4ec8-4f57-b85b-d8a79460f026" ma:termSetId="00000000-0000-0000-0000-000000000000" ma:anchorId="00000000-0000-0000-0000-000000000000" ma:open="true" ma:isKeyword="true">
      <xsd:complexType>
        <xsd:sequence>
          <xsd:element ref="pc:Terms" minOccurs="0" maxOccurs="1"/>
        </xsd:sequence>
      </xsd:complexType>
    </xsd:element>
    <xsd:element name="TaxCatchAll" ma:index="9" nillable="true" ma:displayName="Taxonomy Catch All Column" ma:hidden="true" ma:list="{b2cc2698-5fc4-4ff6-b1d3-64e75efa1efc}" ma:internalName="TaxCatchAll" ma:readOnly="false" ma:showField="CatchAllData" ma:web="4d5313c0-c1e6-4122-afa9-da1ccdba405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0" nillable="true" ma:displayName="Taxonomy Catch All Column1" ma:hidden="true" ma:list="{b2cc2698-5fc4-4ff6-b1d3-64e75efa1efc}" ma:internalName="TaxCatchAllLabel" ma:readOnly="false" ma:showField="CatchAllDataLabel" ma:web="4d5313c0-c1e6-4122-afa9-da1ccdba405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62c980f-4e38-4cca-bd06-5104ee5993c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1FEFB4A-93BB-42CE-991E-3137591E04A2}">
  <ds:schemaRefs>
    <ds:schemaRef ds:uri="http://schemas.microsoft.com/office/2006/metadata/properties"/>
    <ds:schemaRef ds:uri="http://schemas.microsoft.com/office/infopath/2007/PartnerControls"/>
    <ds:schemaRef ds:uri="4d5313c0-c1e6-4122-afa9-da1ccdba405d"/>
  </ds:schemaRefs>
</ds:datastoreItem>
</file>

<file path=customXml/itemProps2.xml><?xml version="1.0" encoding="utf-8"?>
<ds:datastoreItem xmlns:ds="http://schemas.openxmlformats.org/officeDocument/2006/customXml" ds:itemID="{7398604D-DD2F-4176-B7A9-4D6F41F122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d5313c0-c1e6-4122-afa9-da1ccdba405d"/>
    <ds:schemaRef ds:uri="362c980f-4e38-4cca-bd06-5104ee5993c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7766D45-EAD8-4B35-81C7-D364DC0604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ICES PowerPoint template 2019</Template>
  <TotalTime>0</TotalTime>
  <Words>365</Words>
  <Application>Microsoft Office PowerPoint</Application>
  <PresentationFormat>Widescreen</PresentationFormat>
  <Paragraphs>63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ICES</vt:lpstr>
      <vt:lpstr>WGRDBES-GOV ISSG Quality</vt:lpstr>
      <vt:lpstr>General information</vt:lpstr>
      <vt:lpstr>What we need</vt:lpstr>
      <vt:lpstr>How to run the script</vt:lpstr>
      <vt:lpstr>How to run the script</vt:lpstr>
      <vt:lpstr>Troubleshooting</vt:lpstr>
      <vt:lpstr>Feedback</vt:lpstr>
      <vt:lpstr>Future developments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2020-11-04T16:30:11Z</dcterms:created>
  <dcterms:modified xsi:type="dcterms:W3CDTF">2026-03-12T09:02:45Z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0x010100C25681E1A4C7504BA1C35FA828EC8EBE</vt:lpwstr>
  </property>
  <property fmtid="{D5CDD505-2E9C-101B-9397-08002B2CF9AE}" pid="3" name="TaxKeyword">
    <vt:lpwstr/>
  </property>
  <property fmtid="{D5CDD505-2E9C-101B-9397-08002B2CF9AE}" pid="4" name="MSIP_Label_92f01cf0-dd39-4ca8-8ed8-80cbd24f5bed_Enabled">
    <vt:lpwstr>true</vt:lpwstr>
  </property>
  <property fmtid="{D5CDD505-2E9C-101B-9397-08002B2CF9AE}" pid="5" name="MSIP_Label_92f01cf0-dd39-4ca8-8ed8-80cbd24f5bed_SetDate">
    <vt:lpwstr>2021-11-07T17:48:40Z</vt:lpwstr>
  </property>
  <property fmtid="{D5CDD505-2E9C-101B-9397-08002B2CF9AE}" pid="6" name="MSIP_Label_92f01cf0-dd39-4ca8-8ed8-80cbd24f5bed_Method">
    <vt:lpwstr>Standard</vt:lpwstr>
  </property>
  <property fmtid="{D5CDD505-2E9C-101B-9397-08002B2CF9AE}" pid="7" name="MSIP_Label_92f01cf0-dd39-4ca8-8ed8-80cbd24f5bed_Name">
    <vt:lpwstr>Interno</vt:lpwstr>
  </property>
  <property fmtid="{D5CDD505-2E9C-101B-9397-08002B2CF9AE}" pid="8" name="MSIP_Label_92f01cf0-dd39-4ca8-8ed8-80cbd24f5bed_SiteId">
    <vt:lpwstr>6219f119-3e79-4e7f-acde-a5750808cd9b</vt:lpwstr>
  </property>
  <property fmtid="{D5CDD505-2E9C-101B-9397-08002B2CF9AE}" pid="9" name="MSIP_Label_92f01cf0-dd39-4ca8-8ed8-80cbd24f5bed_ActionId">
    <vt:lpwstr>50e4c0a4-8f91-459d-abf8-9035fa376300</vt:lpwstr>
  </property>
  <property fmtid="{D5CDD505-2E9C-101B-9397-08002B2CF9AE}" pid="10" name="MSIP_Label_92f01cf0-dd39-4ca8-8ed8-80cbd24f5bed_ContentBits">
    <vt:lpwstr>0</vt:lpwstr>
  </property>
</Properties>
</file>